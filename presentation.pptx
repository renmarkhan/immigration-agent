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85800"/>
            <a:ext cx="10058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1F1F1F"/>
                </a:solidFill>
                <a:latin typeface="Georgia"/>
              </a:rPr>
              <a:t>Canada Immigration
&amp; PR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772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Calibri"/>
              </a:rPr>
              <a:t>A RAG-powered policy assistant with citation-grounded,
safety-aware responses.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10725912" cy="12700"/>
          </a:xfrm>
          <a:prstGeom prst="rect">
            <a:avLst/>
          </a:prstGeom>
          <a:solidFill>
            <a:srgbClr val="E5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TEAM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8756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Chao Tang  ·  Yuhan Ren  ·  Ehraaz Atif  ·  Ella Lu  ·  Keqing Wang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5532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0" i="1">
                <a:solidFill>
                  <a:srgbClr val="8B1E2D"/>
                </a:solidFill>
                <a:latin typeface="Georgia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754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1F1F"/>
                </a:solidFill>
                <a:latin typeface="Georgia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669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8102E"/>
                </a:solidFill>
                <a:latin typeface="Calibri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42416"/>
            <a:ext cx="10725912" cy="25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50292" cy="8412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B1E2D"/>
                </a:solidFill>
                <a:latin typeface="Georgia"/>
              </a:rPr>
              <a:t>Delivering high-stakes immigration guidance with
official-source traceability and robust risk mitigation.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>
                <a:solidFill>
                  <a:srgbClr val="C8102E"/>
                </a:solidFill>
                <a:latin typeface="Calibri"/>
              </a:rPr>
              <a:t>— </a:t>
            </a:r>
            <a:r>
              <a:rPr sz="1600">
                <a:solidFill>
                  <a:srgbClr val="1F1F1F"/>
                </a:solidFill>
                <a:latin typeface="Calibri"/>
              </a:rPr>
              <a:t>Developed an end-to-end MVP navigating complex IRCC and Ontario provincial policies.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8102E"/>
                </a:solidFill>
                <a:latin typeface="Calibri"/>
              </a:rPr>
              <a:t>— </a:t>
            </a:r>
            <a:r>
              <a:rPr sz="1600">
                <a:solidFill>
                  <a:srgbClr val="1F1F1F"/>
                </a:solidFill>
                <a:latin typeface="Calibri"/>
              </a:rPr>
              <a:t>Implemented a strict citation schema ensuring responses are grounded in official documentation.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8102E"/>
                </a:solidFill>
                <a:latin typeface="Calibri"/>
              </a:rPr>
              <a:t>— </a:t>
            </a:r>
            <a:r>
              <a:rPr sz="1600">
                <a:solidFill>
                  <a:srgbClr val="1F1F1F"/>
                </a:solidFill>
                <a:latin typeface="Calibri"/>
              </a:rPr>
              <a:t>Engineered a tiered safety-routing mechanism to manage adversarial or high-risk queries.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3822191" cy="516636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572768"/>
            <a:ext cx="336499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8102E"/>
                </a:solidFill>
                <a:latin typeface="Georgia"/>
              </a:rPr>
              <a:t>72.73%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04288"/>
            <a:ext cx="33649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EVAL PASS RATE (8 / 11)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596896"/>
            <a:ext cx="3364991" cy="12700"/>
          </a:xfrm>
          <a:prstGeom prst="rect">
            <a:avLst/>
          </a:prstGeom>
          <a:solidFill>
            <a:srgbClr val="E5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944368"/>
            <a:ext cx="336499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F1F1F"/>
                </a:solidFill>
                <a:latin typeface="Georgia"/>
              </a:rPr>
              <a:t>90.91%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675888"/>
            <a:ext cx="33649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CITATION TITLE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968496"/>
            <a:ext cx="3364991" cy="12700"/>
          </a:xfrm>
          <a:prstGeom prst="rect">
            <a:avLst/>
          </a:prstGeom>
          <a:solidFill>
            <a:srgbClr val="E5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315968"/>
            <a:ext cx="336499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F1F1F"/>
                </a:solidFill>
                <a:latin typeface="Calibri"/>
              </a:rP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047488"/>
            <a:ext cx="33649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RETRIEVAL: BM25 + 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5340096"/>
            <a:ext cx="3364991" cy="12700"/>
          </a:xfrm>
          <a:prstGeom prst="rect">
            <a:avLst/>
          </a:prstGeom>
          <a:solidFill>
            <a:srgbClr val="E5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754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1F1F"/>
                </a:solidFill>
                <a:latin typeface="Georgia"/>
              </a:rPr>
              <a:t>Problem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669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8102E"/>
                </a:solidFill>
                <a:latin typeface="Calibri"/>
              </a:rPr>
              <a:t>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42416"/>
            <a:ext cx="10725912" cy="25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F1F1F"/>
                </a:solidFill>
                <a:latin typeface="Georgia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F1F"/>
                </a:solidFill>
                <a:latin typeface="Calibri"/>
              </a:rPr>
              <a:t>Immigration guidance is exceptionally high-stakes, deeply policy-heavy, and subject to frequent legislative changes. Traditional LLM responses without strict grounding pose critical safety risks in this domain.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481328"/>
            <a:ext cx="12700" cy="1920240"/>
          </a:xfrm>
          <a:prstGeom prst="rect">
            <a:avLst/>
          </a:prstGeom>
          <a:solidFill>
            <a:srgbClr val="E5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81328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F1F1F"/>
                </a:solidFill>
                <a:latin typeface="Georgia"/>
              </a:rPr>
              <a:t>Source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93392"/>
            <a:ext cx="4983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F1F"/>
                </a:solidFill>
                <a:latin typeface="Calibri"/>
              </a:rPr>
              <a:t>Our dataset exclusively uses official IRCC and OINP webpages, processed into indexed chunks enriched with metadata: province, program, stream, source URL, section title, and accessed date — ensuring full traceability.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86200"/>
            <a:ext cx="10725912" cy="2542032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4142232"/>
            <a:ext cx="212140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" y="4306824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Calibri"/>
              </a:rPr>
              <a:t>PHASE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461772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Raw Official
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5330952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IRCC &amp; OINP 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018" y="5184648"/>
            <a:ext cx="5760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94176" y="4142232"/>
            <a:ext cx="212140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2" y="4306824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Calibri"/>
              </a:rPr>
              <a:t>PHASE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461772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Cleaned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5330952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Noise removal &amp;
normalisation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514" y="5184648"/>
            <a:ext cx="5760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9672" y="4142232"/>
            <a:ext cx="2121408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7688" y="4306824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Calibri"/>
              </a:rPr>
              <a:t>PHASE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1772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Semantic
Chunks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5330952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Context-aware
segmentation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3010" y="5184648"/>
            <a:ext cx="5760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45168" y="4142232"/>
            <a:ext cx="2121408" cy="2048256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45168" y="4142232"/>
            <a:ext cx="2121408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73184" y="4306824"/>
            <a:ext cx="1865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Calibri"/>
              </a:rPr>
              <a:t>PHASE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4617720"/>
            <a:ext cx="18653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Indexed
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5330952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Enriched with
metadata &amp; vectors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754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1F1F"/>
                </a:solidFill>
                <a:latin typeface="Georgia"/>
              </a:rPr>
              <a:t>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669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8102E"/>
                </a:solidFill>
                <a:latin typeface="Calibri"/>
              </a:rPr>
              <a:t>SYSTEM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42416"/>
            <a:ext cx="10725912" cy="25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F1F"/>
                </a:solidFill>
                <a:latin typeface="Georgia"/>
              </a:rPr>
              <a:t>Technical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E2D"/>
                </a:solidFill>
                <a:latin typeface="Calibri"/>
              </a:rPr>
              <a:t>HYBRID RETRIEVAL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39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BM25 (0.6) + Vector (0.4) weights to prioritize exact policy terms while maintaining semantic recall.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7238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E2D"/>
                </a:solidFill>
                <a:latin typeface="Calibri"/>
              </a:rPr>
              <a:t>PRECISION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64991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Initial top_k=20 reranked to final 5 with metadata filters: province, program, stream.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5993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E2D"/>
                </a:solidFill>
                <a:latin typeface="Calibri"/>
              </a:rPr>
              <a:t>RISK ROUTING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52543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Tiered L1/L2/L3 safety mechanism with one-retry no-evidence fallback to prevent hallucination.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4748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E2D"/>
                </a:solidFill>
                <a:latin typeface="Calibri"/>
              </a:rPr>
              <a:t>POLICY TOOL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0095"/>
            <a:ext cx="5394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CRS calculator scoped to single-applicant Federal Express Entry for MVP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353312"/>
            <a:ext cx="4663440" cy="5230368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1508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EXECUTION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920240"/>
            <a:ext cx="4114800" cy="585216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600" y="1920240"/>
            <a:ext cx="54864" cy="5852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203911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1.  Intake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505456"/>
            <a:ext cx="329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688336"/>
            <a:ext cx="41148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51192" y="280720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2.  Hybrid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273552"/>
            <a:ext cx="329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456432"/>
            <a:ext cx="41148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357530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3.  Optional: Policy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041648"/>
            <a:ext cx="329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4224528"/>
            <a:ext cx="4114800" cy="585216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600" y="4224528"/>
            <a:ext cx="54864" cy="5852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51192" y="43434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4.  Tiered Risk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809744"/>
            <a:ext cx="329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4992624"/>
            <a:ext cx="4114800" cy="585216"/>
          </a:xfrm>
          <a:prstGeom prst="rect">
            <a:avLst/>
          </a:prstGeom>
          <a:solidFill>
            <a:srgbClr val="1F1F1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51192" y="511149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5.  Generation +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754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1F1F"/>
                </a:solidFill>
                <a:latin typeface="Georgia"/>
              </a:rP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669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8102E"/>
                </a:solidFill>
                <a:latin typeface="Calibri"/>
              </a:rPr>
              <a:t>METRICS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42416"/>
            <a:ext cx="10725912" cy="25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102E"/>
                </a:solidFill>
                <a:latin typeface="Georgia"/>
              </a:rPr>
              <a:t>11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TOTAL TESTS / PASSED  (72.73%)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4236" y="1481328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57116" y="1600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1F1F"/>
                </a:solidFill>
                <a:latin typeface="Georgia"/>
              </a:rPr>
              <a:t>90.91%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7116" y="23591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CITATION TITLE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2" y="1481328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9832" y="1600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1F1F"/>
                </a:solidFill>
                <a:latin typeface="Georgia"/>
              </a:rPr>
              <a:t>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2" y="23591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REFUSAL &amp; SAFETY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1F1F"/>
                </a:solidFill>
                <a:latin typeface="Calibri"/>
              </a:rPr>
              <a:t>Observed Failure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6035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C8102E"/>
                </a:solidFill>
                <a:latin typeface="Calibri"/>
              </a:rPr>
              <a:t>— </a:t>
            </a:r>
            <a:r>
              <a:rPr sz="1500">
                <a:solidFill>
                  <a:srgbClr val="1F1F1F"/>
                </a:solidFill>
                <a:latin typeface="Calibri"/>
              </a:rPr>
              <a:t>L3 Compliance Inconsistency: Variable refusal behavior across diverse adversarial safety prompts.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C8102E"/>
                </a:solidFill>
                <a:latin typeface="Calibri"/>
              </a:rPr>
              <a:t>— </a:t>
            </a:r>
            <a:r>
              <a:rPr sz="1500">
                <a:solidFill>
                  <a:srgbClr val="1F1F1F"/>
                </a:solidFill>
                <a:latin typeface="Calibri"/>
              </a:rPr>
              <a:t>Factual Keyword Misses: Retrieval gaps for highly specific, long-tail policy detail queries.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C8102E"/>
                </a:solidFill>
                <a:latin typeface="Calibri"/>
              </a:rPr>
              <a:t>— </a:t>
            </a:r>
            <a:r>
              <a:rPr sz="1500">
                <a:solidFill>
                  <a:srgbClr val="1F1F1F"/>
                </a:solidFill>
                <a:latin typeface="Calibri"/>
              </a:rPr>
              <a:t>Sample Size Constraints: Small evaluation set limits confidence around broad generalization.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999232"/>
            <a:ext cx="4434840" cy="35204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3227832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Calibri"/>
              </a:rPr>
              <a:t>WHAT THIS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21024"/>
            <a:ext cx="3886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The system demonstrates strong capability in tracing and citing official sources accurately, meeting our primary traceability mandate. Edge-case safety routing and granular retrieval tuning still require further dataset expansion before production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754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1F1F"/>
                </a:solidFill>
                <a:latin typeface="Georgia"/>
              </a:rPr>
              <a:t>Learnings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669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8102E"/>
                </a:solidFill>
                <a:latin typeface="Calibri"/>
              </a:rPr>
              <a:t>PROJECT 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42416"/>
            <a:ext cx="10725912" cy="25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81328"/>
            <a:ext cx="3401568" cy="5047488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3401568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944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F1F1F"/>
                </a:solidFill>
                <a:latin typeface="Georgia"/>
              </a:rPr>
              <a:t>What Worked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312724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Hybrid retrieval significantly improved policy grounding over pure semantic search.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Strict citation schemas enforced end-to-end response traceability.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Modular orchestrator enabled efficient parallel team development.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3108" y="1481328"/>
            <a:ext cx="3401568" cy="5047488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3108" y="1481328"/>
            <a:ext cx="3401568" cy="6400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1708" y="1645920"/>
            <a:ext cx="2944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F1F1F"/>
                </a:solidFill>
                <a:latin typeface="Georgia"/>
              </a:rP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268" y="2231136"/>
            <a:ext cx="312724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Consistent refusal behavior under complex adversarial prompt injections.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Balancing conversational personalization against evidence sufficiency requirements.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Data freshness and robust ingestion under tight MVP time constraints.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54696" y="1481328"/>
            <a:ext cx="3401568" cy="5047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4696" y="1481328"/>
            <a:ext cx="3401568" cy="64008"/>
          </a:xfrm>
          <a:prstGeom prst="rect">
            <a:avLst/>
          </a:prstGeom>
          <a:solidFill>
            <a:srgbClr val="E5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3296" y="1645920"/>
            <a:ext cx="2944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F1F1F"/>
                </a:solidFill>
                <a:latin typeface="Georgia"/>
              </a:rP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2231136"/>
            <a:ext cx="312724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Expand evaluation set significantly beyond the initial 11 seeds.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Strengthen L3 refusal reliability and automated citation quality checks.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8102E"/>
                </a:solidFill>
                <a:latin typeface="Calibri"/>
              </a:rPr>
              <a:t>— </a:t>
            </a:r>
            <a:r>
              <a:rPr sz="1400">
                <a:solidFill>
                  <a:srgbClr val="1F1F1F"/>
                </a:solidFill>
                <a:latin typeface="Calibri"/>
              </a:rPr>
              <a:t>Extend policy tool coverage beyond single-applicant Federal Express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76088" y="1783080"/>
            <a:ext cx="164592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59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F1F1F"/>
                </a:solidFill>
                <a:latin typeface="Georgia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8B1E2D"/>
                </a:solidFill>
                <a:latin typeface="Georgia"/>
              </a:rPr>
              <a:t>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CANADA IMMIGRATION &amp; PR NAVIGATOR  ·  RAG MVP  ·  TEAM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579</Words>
  <Application>Microsoft Macintosh PowerPoint</Application>
  <PresentationFormat>Custom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YUHAN REN</cp:lastModifiedBy>
  <cp:revision>1</cp:revision>
  <dcterms:created xsi:type="dcterms:W3CDTF">2013-01-27T09:14:16Z</dcterms:created>
  <dcterms:modified xsi:type="dcterms:W3CDTF">2026-04-11T20:25:31Z</dcterms:modified>
  <cp:category/>
</cp:coreProperties>
</file>